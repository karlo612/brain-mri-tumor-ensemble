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16"/>
    <p:restoredTop sz="94750"/>
  </p:normalViewPr>
  <p:slideViewPr>
    <p:cSldViewPr snapToGrid="0">
      <p:cViewPr>
        <p:scale>
          <a:sx n="109" d="100"/>
          <a:sy n="109" d="100"/>
        </p:scale>
        <p:origin x="263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B50B-8010-A8D1-7356-792580EB8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96ABA-6428-8875-2D13-E306342CB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E9B95-B0B2-0287-DADC-968799F5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A74D5-7CFD-CD22-DDBA-F08C7702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2ABF5-95ED-1D87-BECC-B2C1253B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5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EB33-36EF-0990-2652-4FA203E6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2FDDD-A4A2-6CA6-4074-F71A1D3A5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9C3CF-FD37-EC9B-8C6D-587A6AA2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948DB-0005-4AF1-6F22-1442FAD88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DBE43-65AA-54FF-3375-B4D3D94E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1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AF7B4-558C-77FF-9A79-0724B453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7B468-054C-BDFE-1FD9-0AC162F4B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82B65-7431-68D6-7312-56D92C24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5349E-F5AB-ED75-3529-D09F1605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27229-C658-B1A0-3963-C50AC7FE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2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77FF-AC72-A173-A15B-EF486887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50BA4-4206-E3CC-EBDC-93F0348CC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67AF4-B959-2F69-C1D4-C2712D3AA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15E9C-3BCF-5797-3EDA-813F1A66B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594A1-D36B-07F6-99A0-6BE5FC3B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D346A-2612-60F6-B860-7EECCB77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1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B4608-E95E-EB52-4CFF-912E12076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74936-EE72-466B-ECAF-748645860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B9725-A660-C5BC-CE0E-9209E4BB6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1B64E0-2432-166A-2EED-960A865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6C083-38E9-B1C2-5969-A30E61A2E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29276-2F8C-6415-01D1-9BDEAD0E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28162-87C3-CD9D-E794-210A9F4E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65E76-145F-F3E7-9913-3F5BC0A2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3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2B03-C123-D1CE-FFD7-54E4CD35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1A495-FDEA-C38A-EDEB-752B4BEDC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389E8-E05C-37B4-143B-75515F2C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B79B6-3E03-D825-4145-5A73D698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7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2D3A2-C977-8A4C-7836-46BB47F9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B1ED5-F723-3EC9-2918-FFE6A688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68294-9D0B-D033-5000-2D7E0A36D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1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9004-BF9F-3184-0F00-2436AA21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97616-64C7-BFD5-4291-EA828A97F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53BA1-9FED-FCA9-5D84-12F23C0EF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39A82-D9CE-F44C-5E6C-F6D2F69EE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3C2DC-7A78-4F39-5858-16B2731C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C6552-7AF2-3699-69E8-F4259DC16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8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07E7-24B7-F1B7-789D-7C6E64ADE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7CABD2-1D03-3FBA-1D13-3EE696924B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E2C4D-CA95-D0E4-8556-7B20F3E72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80463-E0D1-C26F-AB87-17111766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D49C2-FF75-1311-8DFC-4DA092C7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48FF8-9CE9-F52A-171A-73C3CD94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46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1267-3AFC-F32D-2CCA-D42F6EDF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FD4EE-2D11-4495-CE3A-ECD21B6ED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EC327-768F-F81F-5580-A8B11288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20816-BA86-56A3-7C47-8233B4A66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A9372-4C07-D1D4-EE62-3C13AD76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9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73031-C66E-0511-36DA-140519429D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0B66A-DCE2-BA16-629A-1A430DFE7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755C-B2E9-7D59-4409-6148FAC2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808BE-DF3B-7369-4AE2-A2D3FD1C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0B67E-4D1E-3EAE-683C-04776286C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9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45069-3840-A4D4-2AAF-93074E35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DA24C-4B80-A0DD-138C-4E7AA5616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9667F-CE43-DF83-AD1E-AFBA3B108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FFD96-7ED6-ED4B-8D25-360742C9D5FD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8A4FF-17E2-D85C-AAF4-3002C937F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AD4AE-C75D-3137-77F4-92DC370A8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CF7A7-DF6A-E144-9B03-0C88C8E60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5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mjopen.bmj.com/content/7/3/e013215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brain scan&#10;&#10;AI-generated content may be incorrect.">
            <a:extLst>
              <a:ext uri="{FF2B5EF4-FFF2-40B4-BE49-F238E27FC236}">
                <a16:creationId xmlns:a16="http://schemas.microsoft.com/office/drawing/2014/main" id="{65249969-5B89-B8AF-7651-BA65F9AF6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32" r="358" b="2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794F2-571F-2E0D-0E41-63D656EB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3000" b="1" dirty="0" err="1"/>
              <a:t>BrainScanML</a:t>
            </a:r>
            <a:r>
              <a:rPr lang="en-GB" sz="3000" b="1" dirty="0"/>
              <a:t> : Stratified Brain MRI Tumour Classification with Ensembles &amp; Calibration</a:t>
            </a:r>
            <a:br>
              <a:rPr lang="en-GB" sz="3000" dirty="0"/>
            </a:br>
            <a:endParaRPr lang="en-US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13C07-A54B-736B-CD58-96630EB4E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By Karlo Nahro</a:t>
            </a:r>
          </a:p>
          <a:p>
            <a:pPr algn="l"/>
            <a:r>
              <a:rPr lang="en-US" sz="2000" dirty="0"/>
              <a:t>19003070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39EEC-D7A1-78F3-3444-8E2F57944DAD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bmjopen.bmj.com/content/7/3/e0132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70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E941D-8131-D8D7-B631-94E8D163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br>
              <a:rPr lang="en-GB" sz="700" b="1"/>
            </a:br>
            <a:br>
              <a:rPr lang="en-GB" sz="700" b="1"/>
            </a:br>
            <a:br>
              <a:rPr lang="en-GB" sz="700" b="1"/>
            </a:br>
            <a:br>
              <a:rPr lang="en-GB" sz="700" b="1"/>
            </a:br>
            <a:br>
              <a:rPr lang="en-GB" sz="700" b="1"/>
            </a:br>
            <a:br>
              <a:rPr lang="en-GB" sz="700"/>
            </a:br>
            <a:br>
              <a:rPr lang="en-GB" sz="700" b="1"/>
            </a:br>
            <a:br>
              <a:rPr lang="en-GB" sz="700" b="1"/>
            </a:br>
            <a:br>
              <a:rPr lang="en-GB" sz="700"/>
            </a:br>
            <a:br>
              <a:rPr lang="en-GB" sz="700"/>
            </a:br>
            <a:endParaRPr lang="en-US" sz="7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EA9E-7B2B-661C-D1C8-F48B2421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700" b="1"/>
              <a:t>Why it matters ?</a:t>
            </a:r>
            <a:endParaRPr lang="en-GB" sz="1700"/>
          </a:p>
          <a:p>
            <a:pPr marL="0" indent="0">
              <a:buNone/>
            </a:pPr>
            <a:r>
              <a:rPr lang="en-GB" sz="1700"/>
              <a:t>Accurate brain tumour classification guides surgery, radiotherapy, the lot. MRI is excellent ,but reading thousands of slices is slow and subjective. We need support tools that are not just </a:t>
            </a:r>
            <a:r>
              <a:rPr lang="en-GB" sz="1700" i="1"/>
              <a:t>accurate</a:t>
            </a:r>
            <a:r>
              <a:rPr lang="en-GB" sz="1700"/>
              <a:t>, but </a:t>
            </a:r>
            <a:r>
              <a:rPr lang="en-GB" sz="1700" i="1"/>
              <a:t>honest</a:t>
            </a:r>
            <a:r>
              <a:rPr lang="en-GB" sz="1700"/>
              <a:t> about their certainty</a:t>
            </a:r>
            <a:endParaRPr lang="en-US" sz="1700"/>
          </a:p>
        </p:txBody>
      </p:sp>
      <p:pic>
        <p:nvPicPr>
          <p:cNvPr id="5" name="Picture 4" descr="A screen shot of a black and white screen&#10;&#10;AI-generated content may be incorrect.">
            <a:extLst>
              <a:ext uri="{FF2B5EF4-FFF2-40B4-BE49-F238E27FC236}">
                <a16:creationId xmlns:a16="http://schemas.microsoft.com/office/drawing/2014/main" id="{DACDDB68-CC18-370E-4A08-011BA9355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437300"/>
            <a:ext cx="6922008" cy="408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6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F4E16-985D-CB62-24CF-EC53B7C8B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532" y="640080"/>
            <a:ext cx="4196932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200" noProof="1"/>
              <a:t>My project challenge: </a:t>
            </a:r>
            <a:r>
              <a:rPr lang="en-US" sz="2200" i="1" noProof="1"/>
              <a:t>Develop a robust, well-calibrated deep-learning ensemble to classify axial brain MRI slices into four categories</a:t>
            </a:r>
            <a:br>
              <a:rPr lang="en-US" sz="2200" i="1" noProof="1"/>
            </a:br>
            <a:br>
              <a:rPr lang="en-US" sz="2200" i="1" noProof="1"/>
            </a:br>
            <a:r>
              <a:rPr lang="en-US" sz="2200" i="1" noProof="1"/>
              <a:t>glioma, meningioma, pituitary, and no tumour , using stratified splits and transparent evaluation</a:t>
            </a:r>
            <a:br>
              <a:rPr lang="en-US" sz="2200" noProof="1"/>
            </a:br>
            <a:endParaRPr lang="en-US" sz="2200" noProof="1"/>
          </a:p>
        </p:txBody>
      </p:sp>
      <p:pic>
        <p:nvPicPr>
          <p:cNvPr id="29" name="Picture 28" descr="Scan of a human brain in a neurology clinic">
            <a:extLst>
              <a:ext uri="{FF2B5EF4-FFF2-40B4-BE49-F238E27FC236}">
                <a16:creationId xmlns:a16="http://schemas.microsoft.com/office/drawing/2014/main" id="{78DD5E46-9720-07A5-15AC-26F8FE7B68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79" r="1" b="1"/>
          <a:stretch>
            <a:fillRect/>
          </a:stretch>
        </p:blipFill>
        <p:spPr>
          <a:xfrm>
            <a:off x="866691" y="1216968"/>
            <a:ext cx="5416261" cy="4424065"/>
          </a:xfrm>
          <a:custGeom>
            <a:avLst/>
            <a:gdLst/>
            <a:ahLst/>
            <a:cxnLst/>
            <a:rect l="l" t="t" r="r" b="b"/>
            <a:pathLst>
              <a:path w="5531320" h="4424065">
                <a:moveTo>
                  <a:pt x="4292328" y="3931444"/>
                </a:moveTo>
                <a:cubicBezTo>
                  <a:pt x="3830135" y="4131325"/>
                  <a:pt x="3346708" y="4259111"/>
                  <a:pt x="2855653" y="4364392"/>
                </a:cubicBezTo>
                <a:lnTo>
                  <a:pt x="2855525" y="4364392"/>
                </a:lnTo>
                <a:cubicBezTo>
                  <a:pt x="3386634" y="4394018"/>
                  <a:pt x="3853531" y="4210158"/>
                  <a:pt x="4292328" y="3931444"/>
                </a:cubicBezTo>
                <a:close/>
                <a:moveTo>
                  <a:pt x="4302118" y="3923561"/>
                </a:moveTo>
                <a:lnTo>
                  <a:pt x="4301102" y="3924959"/>
                </a:lnTo>
                <a:lnTo>
                  <a:pt x="4302881" y="3924959"/>
                </a:lnTo>
                <a:close/>
                <a:moveTo>
                  <a:pt x="3885572" y="334733"/>
                </a:moveTo>
                <a:cubicBezTo>
                  <a:pt x="4046889" y="406840"/>
                  <a:pt x="4203653" y="488713"/>
                  <a:pt x="4355013" y="579880"/>
                </a:cubicBezTo>
                <a:cubicBezTo>
                  <a:pt x="4662082" y="768063"/>
                  <a:pt x="4933803" y="995790"/>
                  <a:pt x="5144619" y="1290779"/>
                </a:cubicBezTo>
                <a:cubicBezTo>
                  <a:pt x="5314365" y="1528042"/>
                  <a:pt x="5426258" y="1789591"/>
                  <a:pt x="5468598" y="2088522"/>
                </a:cubicBezTo>
                <a:cubicBezTo>
                  <a:pt x="5479330" y="2001424"/>
                  <a:pt x="5480182" y="1913385"/>
                  <a:pt x="5471141" y="1826083"/>
                </a:cubicBezTo>
                <a:cubicBezTo>
                  <a:pt x="5455337" y="1662962"/>
                  <a:pt x="5406307" y="1504799"/>
                  <a:pt x="5327080" y="1361348"/>
                </a:cubicBezTo>
                <a:cubicBezTo>
                  <a:pt x="5206160" y="1140233"/>
                  <a:pt x="5033362" y="965782"/>
                  <a:pt x="4833354" y="816507"/>
                </a:cubicBezTo>
                <a:cubicBezTo>
                  <a:pt x="4597235" y="640276"/>
                  <a:pt x="4336322" y="509438"/>
                  <a:pt x="4063457" y="400724"/>
                </a:cubicBezTo>
                <a:cubicBezTo>
                  <a:pt x="4033360" y="388607"/>
                  <a:pt x="4003060" y="376909"/>
                  <a:pt x="3972544" y="365631"/>
                </a:cubicBezTo>
                <a:cubicBezTo>
                  <a:pt x="3943680" y="354950"/>
                  <a:pt x="3914563" y="345033"/>
                  <a:pt x="3885572" y="334733"/>
                </a:cubicBezTo>
                <a:close/>
                <a:moveTo>
                  <a:pt x="3865737" y="329520"/>
                </a:moveTo>
                <a:cubicBezTo>
                  <a:pt x="3865737" y="329520"/>
                  <a:pt x="3865737" y="330410"/>
                  <a:pt x="3866500" y="330537"/>
                </a:cubicBezTo>
                <a:lnTo>
                  <a:pt x="3869806" y="330156"/>
                </a:lnTo>
                <a:close/>
                <a:moveTo>
                  <a:pt x="2219772" y="85645"/>
                </a:moveTo>
                <a:cubicBezTo>
                  <a:pt x="2206943" y="84005"/>
                  <a:pt x="2193910" y="85264"/>
                  <a:pt x="2181627" y="89333"/>
                </a:cubicBezTo>
                <a:cubicBezTo>
                  <a:pt x="1932920" y="125113"/>
                  <a:pt x="1690800" y="197118"/>
                  <a:pt x="1462972" y="303073"/>
                </a:cubicBezTo>
                <a:cubicBezTo>
                  <a:pt x="971789" y="529528"/>
                  <a:pt x="578130" y="865460"/>
                  <a:pt x="308698" y="1338461"/>
                </a:cubicBezTo>
                <a:cubicBezTo>
                  <a:pt x="180225" y="1561852"/>
                  <a:pt x="97653" y="1808638"/>
                  <a:pt x="65840" y="2064364"/>
                </a:cubicBezTo>
                <a:cubicBezTo>
                  <a:pt x="71943" y="2050505"/>
                  <a:pt x="77284" y="2036391"/>
                  <a:pt x="82115" y="2022150"/>
                </a:cubicBezTo>
                <a:cubicBezTo>
                  <a:pt x="170104" y="1763653"/>
                  <a:pt x="279580" y="1515073"/>
                  <a:pt x="423261" y="1282260"/>
                </a:cubicBezTo>
                <a:cubicBezTo>
                  <a:pt x="630770" y="945565"/>
                  <a:pt x="895371" y="664944"/>
                  <a:pt x="1231812" y="454001"/>
                </a:cubicBezTo>
                <a:cubicBezTo>
                  <a:pt x="1535193" y="263783"/>
                  <a:pt x="1866802" y="149729"/>
                  <a:pt x="2219772" y="85645"/>
                </a:cubicBezTo>
                <a:close/>
                <a:moveTo>
                  <a:pt x="2612541" y="836"/>
                </a:moveTo>
                <a:cubicBezTo>
                  <a:pt x="2715914" y="-4250"/>
                  <a:pt x="2831240" y="14695"/>
                  <a:pt x="2946311" y="35548"/>
                </a:cubicBezTo>
                <a:cubicBezTo>
                  <a:pt x="3291652" y="98106"/>
                  <a:pt x="3631144" y="182915"/>
                  <a:pt x="3961100" y="303581"/>
                </a:cubicBezTo>
                <a:cubicBezTo>
                  <a:pt x="4278341" y="419543"/>
                  <a:pt x="4581341" y="563350"/>
                  <a:pt x="4854588" y="764502"/>
                </a:cubicBezTo>
                <a:cubicBezTo>
                  <a:pt x="5067438" y="921152"/>
                  <a:pt x="5250408" y="1105521"/>
                  <a:pt x="5377813" y="1339732"/>
                </a:cubicBezTo>
                <a:cubicBezTo>
                  <a:pt x="5459812" y="1489986"/>
                  <a:pt x="5510304" y="1655396"/>
                  <a:pt x="5526198" y="1825829"/>
                </a:cubicBezTo>
                <a:cubicBezTo>
                  <a:pt x="5538277" y="1951327"/>
                  <a:pt x="5527342" y="2074917"/>
                  <a:pt x="5510558" y="2199398"/>
                </a:cubicBezTo>
                <a:cubicBezTo>
                  <a:pt x="5502967" y="2266991"/>
                  <a:pt x="5502713" y="2335195"/>
                  <a:pt x="5509796" y="2402839"/>
                </a:cubicBezTo>
                <a:cubicBezTo>
                  <a:pt x="5534208" y="2664197"/>
                  <a:pt x="5468472" y="2926051"/>
                  <a:pt x="5323520" y="3144890"/>
                </a:cubicBezTo>
                <a:cubicBezTo>
                  <a:pt x="5201340" y="3332234"/>
                  <a:pt x="5041042" y="3491719"/>
                  <a:pt x="4853062" y="3612932"/>
                </a:cubicBezTo>
                <a:cubicBezTo>
                  <a:pt x="4671110" y="3732072"/>
                  <a:pt x="4498566" y="3864563"/>
                  <a:pt x="4316359" y="3982940"/>
                </a:cubicBezTo>
                <a:cubicBezTo>
                  <a:pt x="4019717" y="4175573"/>
                  <a:pt x="3701077" y="4317347"/>
                  <a:pt x="3352557" y="4386771"/>
                </a:cubicBezTo>
                <a:cubicBezTo>
                  <a:pt x="3160954" y="4425590"/>
                  <a:pt x="2964456" y="4434173"/>
                  <a:pt x="2770207" y="4412201"/>
                </a:cubicBezTo>
                <a:cubicBezTo>
                  <a:pt x="2685525" y="4402537"/>
                  <a:pt x="2599953" y="4402410"/>
                  <a:pt x="2514889" y="4393637"/>
                </a:cubicBezTo>
                <a:cubicBezTo>
                  <a:pt x="2307137" y="4370851"/>
                  <a:pt x="2102209" y="4327277"/>
                  <a:pt x="1903167" y="4263562"/>
                </a:cubicBezTo>
                <a:cubicBezTo>
                  <a:pt x="1560623" y="4156119"/>
                  <a:pt x="1238932" y="4006972"/>
                  <a:pt x="948393" y="3794249"/>
                </a:cubicBezTo>
                <a:cubicBezTo>
                  <a:pt x="647554" y="3573897"/>
                  <a:pt x="396813" y="3308660"/>
                  <a:pt x="223634" y="2975526"/>
                </a:cubicBezTo>
                <a:cubicBezTo>
                  <a:pt x="129454" y="2796370"/>
                  <a:pt x="67150" y="2602198"/>
                  <a:pt x="39520" y="2401695"/>
                </a:cubicBezTo>
                <a:cubicBezTo>
                  <a:pt x="34510" y="2367555"/>
                  <a:pt x="26729" y="2333872"/>
                  <a:pt x="16252" y="2300991"/>
                </a:cubicBezTo>
                <a:cubicBezTo>
                  <a:pt x="-9179" y="2218598"/>
                  <a:pt x="-24" y="2135695"/>
                  <a:pt x="11801" y="2053556"/>
                </a:cubicBezTo>
                <a:cubicBezTo>
                  <a:pt x="93686" y="1480615"/>
                  <a:pt x="377868" y="1021983"/>
                  <a:pt x="812850" y="651084"/>
                </a:cubicBezTo>
                <a:cubicBezTo>
                  <a:pt x="1176755" y="340201"/>
                  <a:pt x="1598260" y="146042"/>
                  <a:pt x="2066810" y="52586"/>
                </a:cubicBezTo>
                <a:cubicBezTo>
                  <a:pt x="2154544" y="35039"/>
                  <a:pt x="2243041" y="23087"/>
                  <a:pt x="2332046" y="14441"/>
                </a:cubicBezTo>
                <a:cubicBezTo>
                  <a:pt x="2421052" y="5794"/>
                  <a:pt x="2508913" y="2107"/>
                  <a:pt x="2612541" y="836"/>
                </a:cubicBezTo>
                <a:close/>
              </a:path>
            </a:pathLst>
          </a:custGeom>
        </p:spPr>
      </p:pic>
      <p:sp>
        <p:nvSpPr>
          <p:cNvPr id="44" name="sketchy line">
            <a:extLst>
              <a:ext uri="{FF2B5EF4-FFF2-40B4-BE49-F238E27FC236}">
                <a16:creationId xmlns:a16="http://schemas.microsoft.com/office/drawing/2014/main" id="{3F9B0603-37C5-4312-AE4D-A3D015475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532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2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0E477-6D69-F5DD-CE09-3EC5F88E6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55" y="1050072"/>
            <a:ext cx="3918531" cy="871728"/>
          </a:xfrm>
        </p:spPr>
        <p:txBody>
          <a:bodyPr anchor="b">
            <a:normAutofit fontScale="90000"/>
          </a:bodyPr>
          <a:lstStyle/>
          <a:p>
            <a:r>
              <a:rPr lang="en-GB" sz="1800" b="1" dirty="0"/>
              <a:t>Aims: high accuracy, calibrated confidence, explainable decisions</a:t>
            </a:r>
            <a:br>
              <a:rPr lang="en-GB" sz="2600" b="1" dirty="0"/>
            </a:br>
            <a:endParaRPr lang="en-GB" sz="2600" b="1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2B0D2EE-44CA-1ECE-8117-7F11AFD7E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837" y="640080"/>
            <a:ext cx="5187390" cy="5577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55EBC2-1DCB-5EAF-9DFC-17C5A3EA3FEB}"/>
              </a:ext>
            </a:extLst>
          </p:cNvPr>
          <p:cNvSpPr txBox="1"/>
          <p:nvPr/>
        </p:nvSpPr>
        <p:spPr>
          <a:xfrm>
            <a:off x="524256" y="2620185"/>
            <a:ext cx="40252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1600" dirty="0"/>
              <a:t>Fine-tune diverse CNNs (VGG16, </a:t>
            </a:r>
            <a:r>
              <a:rPr lang="en-GB" sz="1600" dirty="0" err="1"/>
              <a:t>Xception</a:t>
            </a:r>
            <a:r>
              <a:rPr lang="en-GB" sz="1600" dirty="0"/>
              <a:t>, EfficientNet-B0).</a:t>
            </a:r>
          </a:p>
          <a:p>
            <a:pPr marL="342900" indent="-342900">
              <a:buAutoNum type="arabicPeriod"/>
            </a:pPr>
            <a:endParaRPr lang="en-GB" sz="1600" dirty="0"/>
          </a:p>
          <a:p>
            <a:r>
              <a:rPr lang="en-GB" sz="1600" dirty="0"/>
              <a:t>2. Ensemble them to improve robustness.</a:t>
            </a:r>
          </a:p>
          <a:p>
            <a:endParaRPr lang="en-GB" sz="1600" dirty="0"/>
          </a:p>
          <a:p>
            <a:r>
              <a:rPr lang="en-GB" sz="1600" dirty="0"/>
              <a:t>3. Calibrate probabilities with temperature scaling.</a:t>
            </a:r>
          </a:p>
          <a:p>
            <a:endParaRPr lang="en-GB" sz="1600" dirty="0"/>
          </a:p>
          <a:p>
            <a:r>
              <a:rPr lang="en-GB" sz="1600" dirty="0"/>
              <a:t>4. Provide Grad-CAM heatmaps for transparency.</a:t>
            </a:r>
          </a:p>
          <a:p>
            <a:endParaRPr lang="en-GB" sz="1600" dirty="0"/>
          </a:p>
          <a:p>
            <a:r>
              <a:rPr lang="en-GB" sz="1600" dirty="0"/>
              <a:t>5. Evaluate rigorously—metrics, calibration, literature comparison, limitations.</a:t>
            </a:r>
          </a:p>
          <a:p>
            <a:endParaRPr lang="en-GB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54FFD4-B9B4-5D41-A63A-40EF59E336D9}"/>
              </a:ext>
            </a:extLst>
          </p:cNvPr>
          <p:cNvSpPr txBox="1"/>
          <p:nvPr/>
        </p:nvSpPr>
        <p:spPr>
          <a:xfrm>
            <a:off x="4549467" y="5756255"/>
            <a:ext cx="7211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Success criteria: </a:t>
            </a:r>
          </a:p>
          <a:p>
            <a:r>
              <a:rPr lang="en-GB" dirty="0"/>
              <a:t>≥95% accuracy, Macro-F1 &gt;0.95, ECE &lt;0.03, plus clear interpretability.”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1127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199</Words>
  <Application>Microsoft Macintosh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BrainScanML : Stratified Brain MRI Tumour Classification with Ensembles &amp; Calibration </vt:lpstr>
      <vt:lpstr>          </vt:lpstr>
      <vt:lpstr>My project challenge: Develop a robust, well-calibrated deep-learning ensemble to classify axial brain MRI slices into four categories  glioma, meningioma, pituitary, and no tumour , using stratified splits and transparent evaluation </vt:lpstr>
      <vt:lpstr>Aims: high accuracy, calibrated confidence, explainable decisions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Karlo Nahro</dc:creator>
  <cp:lastModifiedBy>Karlo Nahro</cp:lastModifiedBy>
  <cp:revision>1</cp:revision>
  <dcterms:created xsi:type="dcterms:W3CDTF">2025-07-28T10:14:05Z</dcterms:created>
  <dcterms:modified xsi:type="dcterms:W3CDTF">2025-07-28T16:14:05Z</dcterms:modified>
</cp:coreProperties>
</file>